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02" r:id="rId4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9AD80B-E0FA-440B-A7B3-92FAD3716206}">
  <a:tblStyle styleId="{769AD80B-E0FA-440B-A7B3-92FAD37162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0" name="Google Shape;50;p12"/>
          <p:cNvGrpSpPr/>
          <p:nvPr/>
        </p:nvGrpSpPr>
        <p:grpSpPr>
          <a:xfrm>
            <a:off x="-19050" y="61450"/>
            <a:ext cx="9189648" cy="5081112"/>
            <a:chOff x="-19050" y="61450"/>
            <a:chExt cx="9189648" cy="5081112"/>
          </a:xfrm>
        </p:grpSpPr>
        <p:sp>
          <p:nvSpPr>
            <p:cNvPr id="51" name="Google Shape;51;p12"/>
            <p:cNvSpPr/>
            <p:nvPr/>
          </p:nvSpPr>
          <p:spPr>
            <a:xfrm>
              <a:off x="675600" y="61450"/>
              <a:ext cx="8415000" cy="560100"/>
            </a:xfrm>
            <a:prstGeom prst="roundRect">
              <a:avLst>
                <a:gd name="adj" fmla="val 16667"/>
              </a:avLst>
            </a:prstGeom>
            <a:solidFill>
              <a:srgbClr val="3473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12"/>
            <p:cNvSpPr/>
            <p:nvPr/>
          </p:nvSpPr>
          <p:spPr>
            <a:xfrm>
              <a:off x="28425" y="62050"/>
              <a:ext cx="602389" cy="558877"/>
            </a:xfrm>
            <a:custGeom>
              <a:avLst/>
              <a:gdLst/>
              <a:ahLst/>
              <a:cxnLst/>
              <a:rect l="l" t="t" r="r" b="b"/>
              <a:pathLst>
                <a:path w="1606371" h="1596792" extrusionOk="0">
                  <a:moveTo>
                    <a:pt x="0" y="0"/>
                  </a:moveTo>
                  <a:lnTo>
                    <a:pt x="1606371" y="0"/>
                  </a:lnTo>
                  <a:lnTo>
                    <a:pt x="1606371" y="1596792"/>
                  </a:lnTo>
                  <a:lnTo>
                    <a:pt x="0" y="15967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t="-49" r="-217641" b="-39"/>
              </a:stretch>
            </a:blipFill>
            <a:ln>
              <a:noFill/>
            </a:ln>
          </p:spPr>
        </p:sp>
        <p:sp>
          <p:nvSpPr>
            <p:cNvPr id="53" name="Google Shape;53;p12"/>
            <p:cNvSpPr/>
            <p:nvPr/>
          </p:nvSpPr>
          <p:spPr>
            <a:xfrm>
              <a:off x="-19050" y="4835252"/>
              <a:ext cx="9189648" cy="307311"/>
            </a:xfrm>
            <a:custGeom>
              <a:avLst/>
              <a:gdLst/>
              <a:ahLst/>
              <a:cxnLst/>
              <a:rect l="l" t="t" r="r" b="b"/>
              <a:pathLst>
                <a:path w="8186769" h="798210" extrusionOk="0">
                  <a:moveTo>
                    <a:pt x="0" y="0"/>
                  </a:moveTo>
                  <a:lnTo>
                    <a:pt x="8186770" y="0"/>
                  </a:lnTo>
                  <a:lnTo>
                    <a:pt x="8186770" y="798210"/>
                  </a:lnTo>
                  <a:lnTo>
                    <a:pt x="0" y="7982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49637"/>
              </a:stretch>
            </a:blip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6.png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Mastery Levels Analysis - Grade 1</a:t>
            </a:r>
          </a:p>
        </p:txBody>
      </p:sp>
      <p:pic>
        <p:nvPicPr>
          <p:cNvPr id="3" name="Picture 2" descr="grade_1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Mastery Levels Analysis - Grade 2</a:t>
            </a:r>
          </a:p>
        </p:txBody>
      </p:sp>
      <p:pic>
        <p:nvPicPr>
          <p:cNvPr id="3" name="Picture 2" descr="grade_2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Mastery Levels Analysis - Grade 3</a:t>
            </a:r>
          </a:p>
        </p:txBody>
      </p:sp>
      <p:pic>
        <p:nvPicPr>
          <p:cNvPr id="3" name="Picture 2" descr="grade_3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Mastery Levels Analysis - Grade 4</a:t>
            </a:r>
          </a:p>
        </p:txBody>
      </p:sp>
      <p:pic>
        <p:nvPicPr>
          <p:cNvPr id="3" name="Picture 2" descr="grade_4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Mastery Levels Analysis - Grade 5</a:t>
            </a:r>
          </a:p>
        </p:txBody>
      </p:sp>
      <p:pic>
        <p:nvPicPr>
          <p:cNvPr id="3" name="Picture 2" descr="grade_5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Mastery Levels Analysis - Grade 6</a:t>
            </a:r>
          </a:p>
        </p:txBody>
      </p:sp>
      <p:pic>
        <p:nvPicPr>
          <p:cNvPr id="3" name="Picture 2" descr="grade_6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Mastery Levels Analysis - Grade 7</a:t>
            </a:r>
          </a:p>
        </p:txBody>
      </p:sp>
      <p:pic>
        <p:nvPicPr>
          <p:cNvPr id="3" name="Picture 2" descr="grade_7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Mastery Levels Analysis - Grade 8</a:t>
            </a:r>
          </a:p>
        </p:txBody>
      </p:sp>
      <p:pic>
        <p:nvPicPr>
          <p:cNvPr id="3" name="Picture 2" descr="grade_8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Mastery Levels Analysis - Grade 9</a:t>
            </a:r>
          </a:p>
        </p:txBody>
      </p:sp>
      <p:pic>
        <p:nvPicPr>
          <p:cNvPr id="3" name="Picture 2" descr="grade_9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Mastery Levels Analysis - Grade 10</a:t>
            </a:r>
          </a:p>
        </p:txBody>
      </p:sp>
      <p:pic>
        <p:nvPicPr>
          <p:cNvPr id="3" name="Picture 2" descr="grade_10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Learning Outcome Performance - Grade 1 -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1280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give/explain the meaning of words in context.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Q3, Q4, Q5, Q7, Q8, Q9, Q10, Q11, Q12, Q13, Q15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identify/explain how information/narrative content is related and contributes to meanings as a whole.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make comparisons within the text.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retrieve and record information/identify key details from fiction and non-fiction.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Q6, Q14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Learning Outcome Performance - Grade 1 -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28163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Compare 2-3 objects using terms like tall/short, heavy/light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Q7, Q15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Compares numbers using more, less, and equal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Match and name basic shapes; use positional words like “on”, “under”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Q8, Q9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Recognize coins and notes through play/poems/stories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Q10, Q14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Repeat simple AB/ABC patterns using objects, sounds, movements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Sort objects by color, size, shape (2-3 categories)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the concept of zero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Use terms like more/less/same up to 5 objects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Q3, Q4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Use vocabulary: today, tomorrow, yesterday; identify day/night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Q5, Q6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Uses symbols ‘+’ and ‘=’ in addition sentences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Learning Outcome Performance - Grade 2 -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comprehend literal information.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give/explain the meaning of words in context.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Q3, Q4, Q5, Q7, Q8, Q9, Q10, Q12, Q14, Q15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identify/explain how information/narrative content is related and contributes to meanings as a whole.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make comparisons within the text.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92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retrieve and record information/identify key details from fiction and non-fiction.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Q6, Q11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Learning Outcome Performance - Grade 2 -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Compare 2-3 objects using terms like tall/short, heavy/light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Q6, Q15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90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Compares numbers using more, less, and equal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Match and name basic shapes; use positional words like “on”, “under”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Q7, Q8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Recognize coins and notes through play/poems/stories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Q9, Q14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94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Repeat simple AB/ABC patterns using objects, sounds, movements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Sort objects by color, size, shape (2-3 categories)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the concept of zero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performs subtraction using real contexts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Use terms like more/less/same up to 5 objects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Use vocabulary: today, tomorrow, yesterday; identify day/night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Q4, Q5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Uses symbols ‘+’ and ‘=’ in addition sentences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Learning Outcome Performance - Grade 3 -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Antonym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Q13, Q14, Q15, Q16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give/explain the meaning of words in context.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Q1, Q2, Q3, Q4, Q5, Q6, Q7, Q8, Q9, Q10, Q11, Q12, Q17, Q18, Q19, Q20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Learning Outcome Performance - Grade 3 -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32916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35115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511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Adds numbers using real objects and illustrations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511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Adds two-digit numbers using place value and real objects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Q18, Q20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511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Compare 2-3 objects using terms like tall/short, heavy/light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92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511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Compares two-digit numbers using place value concepts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Q15, Q16, Q17, Q19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511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Match and name basic shapes; use positional words like “on”, “under”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511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Recognize coins and notes through play/poems/stories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Q8, Q13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511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Repeat simple AB/ABC patterns using objects, sounds, movements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92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511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Sort objects by color, size, shape (2-3 categories)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511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the concept of zero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511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performs subtraction using real contexts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511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Use terms like more/less/same up to 5 objects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511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Use vocabulary: today, tomorrow, yesterday; identify day/night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Q4, Q5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512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Uses symbols ‘+’ and ‘=’ in addition sentences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Q10, Q11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Learning Outcome Performance - Grade 4 -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1280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Noun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Q11, Q12, Q13, Q14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Punctuation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Q6, Q7, Q8, Q9, Q10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give/explain the meaning of words in context.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Q16, Q17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retrieve and record information/identify key details from fiction and non-fiction.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Q1, Q2, Q3, Q4, Q5, Q15, Q18, Q19, Q20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Learning Outcome Performance - Grade 4 -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32916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182867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82867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Arranges numbers in increasing order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Q5, Q6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82867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Capacity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82867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Compares two-digit numbers using place value concepts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82867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Estimation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82867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Match and name basic shapes; use positional words like “on”, “under”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82867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Mixed operations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82867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Pictographs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82867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Recognize coins and notes through play/poems/stories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82867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Solving Multiplication problems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82867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basic addition and subtraction in money-related contexts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82867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place value using tens and ones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82867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the concept of zero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82867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uses place value for two-digit numbers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Q13, Q14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82867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Use terms like more/less/same up to 5 objects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82867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Use vocabulary: today, tomorrow, yesterday; identify day/night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Q8, Q9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82867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Uses symbols ‘+’ and ‘=’ in addition sentences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82878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Q20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Learning Outcome Performance - Grade 5 -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1280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Noun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Q8, Q9, Q10, Q11, Q12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Sentence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Q4, Q5, Q6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give/explain the meaning of words in context.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Q7, Q17, Q18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retrieve and record information/identify key details from fiction and non-fiction.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Q1, Q2, Q3, Q13, Q14, Q15, Q16, Q19, Q20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Learning Outcome Performance - Grade 5 -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32916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35115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511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Addition and Subtraction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Q11, Q12, Q13, Q20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511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Compares two-digit numbers using place value concepts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Q8, Q10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511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Division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Q17, Q18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511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Fractional Numbers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511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Length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511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Match and name basic shapes; use positional words like “on”, “under”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511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Measurement (Weight)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511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Multiplication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511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Recognizes and writes numbers up to 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Q4, Q5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511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Solves simple word problems involving money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511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the concept of zero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511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Use vocabulary: today, tomorrow, yesterday; identify day/night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Q1, Q2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512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Learning Outcome Performance - Grade 6 -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32916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05726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Adverb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Antonym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Masculine-Feminine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Noun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Q8, Q19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Parts of Speech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Pronoun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Punctuation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Rhyming Words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Root Word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Sentence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Q1, Q9, Q12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identify/explain how information/narrative content is related and contributes to meanings as a whole.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identify/explain how meaning is enhanced through choice of words and phrases.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Q2, Q15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make comparisons within the text.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Q3, Q17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make inferences from the text/explain and justify inferences with evidence from the text.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7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Verb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Q20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Learning Outcome Performance - Grade 6 -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32916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173243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3243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Addition and Subtraction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Q6, Q20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3243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Compares two-digit numbers using place value concepts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3243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Comparing Numbers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3243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Conversions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3243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Data Handling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3243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Expanding Numbers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3243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Explains regrouping while adding/subtracting 2-digit numbers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3243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Fractional Numbers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3243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Identifies and differentiates 2D shapes in real life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Q3, Q4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3243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Like and Unlike Fractions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3243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Measurement (Weight)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3243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Mixed operations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3243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Numbers up to 10,000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3243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Perimeters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3243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Right Angles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3243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Shapes and Spatial Understanding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3243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Solving Multiplication problems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3243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place value using tens and ones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Learning Outcome Performance - Grade 7 -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Adjective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Conjunction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Q7, Q10, Q17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Homophone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Q11, Q18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Noun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Pronoun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Punctuation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Sentence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Q1, Q2, Q3, Q6, Q15, Q16, Q20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Tense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give/explain the meaning of words in context.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Q8, Q9, Q12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Learning Outcome Performance - Grade 7 -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32916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05726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Addition and Subtraction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Q8, Q9, Q11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Capacity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Comparing Decimals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Concept of Kilogram and Quintal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Differentiates between longer and shorter paths or objects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Division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Improper and Mixed Fractions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Q12, Q13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Large Numbers in Practice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Measurement (Length)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Perimeters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Shapes and Spatial Understanding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Solving Multiplication problems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place value using tens and ones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Q1, Q15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the concept of multiplication as repeated addition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Q2, Q20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7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Learning Outcome Performance - Grade 8 -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Adjective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Conjunction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Q7, Q10, Q17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Homophone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Q11, Q18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Noun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Pronoun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Punctuation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Sentence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Q1, Q2, Q3, Q6, Q15, Q16, Q20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Tense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give/explain the meaning of words in context.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Q8, Q9, Q12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Learning Outcome Performance - Grade 8 -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32916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05726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Addition and Subtraction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Q8, Q9, Q11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Capacity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Comparing Decimals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Concept of Kilogram and Quintal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Differentiates between longer and shorter paths or objects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Division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Improper and Mixed Fractions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Q12, Q13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Large Numbers in Practice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Measurement (Length)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Perimeters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Shapes and Spatial Understanding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Solving Multiplication problems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place value using tens and ones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Q1, Q15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the concept of multiplication as repeated addition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Q2, Q20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7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Learning Outcome Performance - Grade 9 -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Adjective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Conjunction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Q7, Q10, Q17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Homophone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Q11, Q18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Noun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Pronoun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Punctuation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Sentence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Q1, Q2, Q3, Q6, Q15, Q16, Q20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Tense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give/explain the meaning of words in context.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Q8, Q9, Q12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Learning Outcome Performance - Grade 9 -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32916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05726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Addition and Subtraction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Q8, Q9, Q11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Capacity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Comparing Decimals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Concept of Kilogram and Quintal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Differentiates between longer and shorter paths or objects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Division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Improper and Mixed Fractions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Q12, Q13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Large Numbers in Practice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Measurement (Length)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Perimeters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Shapes and Spatial Understanding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Solving Multiplication problems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place value using tens and ones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Q1, Q15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79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the concept of multiplication as repeated addition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Q2, Q20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7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Learning Outcome Performance - Grade 10 -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Adjective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Conjunction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Q7, Q10, Q17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Homophone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Q11, Q18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Noun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Pronoun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Punctuation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Sentence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Q1, Q2, Q3, Q6, Q15, Q16, Q20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86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Tense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give/explain the meaning of words in context.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Q8, Q9, Q12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Learning Outcome Performance - Grade 10 -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32916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05726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 marT="18288" marB="18288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Addition and Subtraction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Q8, Q9, Q11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Capacity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Comparing Decimals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Q18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Concept of Kilogram and Quintal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Differentiates between longer and shorter paths or objects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Division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Improper and Mixed Fractions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Q12, Q13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Large Numbers in Practice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Measurement (Length)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Perimeters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Shapes and Spatial Understanding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Q17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Solving Multiplication problems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Q16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place value using tens and ones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Q1, Q15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the concept of multiplication as repeated addition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Q2, Q20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5727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marT="9144" marB="9144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Overall Subject Performance (All Schools)</a:t>
            </a:r>
          </a:p>
        </p:txBody>
      </p:sp>
      <p:pic>
        <p:nvPicPr>
          <p:cNvPr id="3" name="Picture 2" descr="overall_subject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DIKSHA FOUNDATION  KHEL BIHTA - Subject Performance (All Grades)</a:t>
            </a:r>
          </a:p>
        </p:txBody>
      </p:sp>
      <p:pic>
        <p:nvPicPr>
          <p:cNvPr id="3" name="Picture 2" descr="DIKSHA_FOUNDATION__KHEL_BIHTA_subject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DIKSHA FOUNDATION  KHEL PATNA - Subject Performance (All Grades)</a:t>
            </a:r>
          </a:p>
        </p:txBody>
      </p:sp>
      <p:pic>
        <p:nvPicPr>
          <p:cNvPr id="3" name="Picture 2" descr="DIKSHA_FOUNDATION__KHEL_PATNA_subject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DIKSHA FOUNDATION SARAI RANJAN - Subject Performance (All Grades)</a:t>
            </a:r>
          </a:p>
        </p:txBody>
      </p:sp>
      <p:pic>
        <p:nvPicPr>
          <p:cNvPr id="3" name="Picture 2" descr="DIKSHA_FOUNDATION_SARAI_RANJAN_subject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Raavi Indu</dc:creator>
  <cp:lastModifiedBy>Raavi Indu</cp:lastModifiedBy>
  <cp:revision>3</cp:revision>
  <dcterms:modified xsi:type="dcterms:W3CDTF">2026-02-27T11:02:03Z</dcterms:modified>
</cp:coreProperties>
</file>